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Inter"/>
      <p:regular r:id="rId14"/>
      <p:bold r:id="rId15"/>
    </p:embeddedFont>
    <p:embeddedFont>
      <p:font typeface="+mn-lt"/>
    </p:embeddedFont>
    <p:embeddedFont>
      <p:font typeface="Fraunces"/>
      <p:bold r:id="rId16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Inter_Regular.fntdata"/><Relationship Id="rId15" Type="http://schemas.openxmlformats.org/officeDocument/2006/relationships/font" Target="fonts/Font_2_Inter_Bold.fntdata"/><Relationship Id="rId16" Type="http://schemas.openxmlformats.org/officeDocument/2006/relationships/font" Target="fonts/Font_3_Fraunces_Bold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74C968-9344-4711-952E-18EE25D930F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C9ECA6-0613-4CBE-BD26-A7F3B63448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3AEDD7-EC5D-4C74-A69C-78F3B46F8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4F870-AD21-41F6-ABA1-4D82367B7A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D89BBE-9B10-4118-91F7-6390D80F54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F8C4D7-DCE7-460E-99D9-38831EAE42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12C880-AA1E-4D18-AB03-88DE9B5A98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42F38-C6E0-4012-8A77-B7BC8081ED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057D00-55F1-40F5-A5D7-60AED71900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4AFD4-CE30-44D0-89EC-9BAB4CD944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1188D-01CA-4C73-AAA4-97D6857465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slidesai.io?utm_source=export&amp;utm_medium=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hyperlink" Target="https://slidesai.io?utm_source=export&amp;utm_medium=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hyperlink" Target="https://slidesai.io?utm_source=export&amp;utm_medium=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hyperlink" Target="https://slidesai.io?utm_source=export&amp;utm_medium=pptx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slidesai.io?utm_source=export&amp;utm_medium=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hyperlink" Target="https://slidesai.io?utm_source=export&amp;utm_medium=pptx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slidesai.io?utm_source=export&amp;utm_medium=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hyperlink" Target="https://slidesai.io?utm_source=export&amp;utm_medium=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hyperlink" Target="https://slidesai.io?utm_source=export&amp;utm_medium=pptx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slidesai.io?utm_source=export&amp;utm_medium=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sai_1ZGjG6ZC::text-1"/>
          <p:cNvSpPr/>
          <p:nvPr/>
        </p:nvSpPr>
        <p:spPr>
          <a:xfrm>
            <a:off x="457200" y="1428840"/>
            <a:ext cx="9524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624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ActionShield AI: A Safety Checkpoint for AI Agents</a:t>
            </a:r>
            <a:endParaRPr lang="en-IN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lidesai_1ZGjG6ZC::text-2"/>
          <p:cNvSpPr/>
          <p:nvPr/>
        </p:nvSpPr>
        <p:spPr>
          <a:xfrm>
            <a:off x="457200" y="2857680"/>
            <a:ext cx="857232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446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Team QuantumMinds presents ActionShield AI, a pre-execution safety layer for AI agents.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46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   ActionShield acts as a checkpoint between an AI agent and the tools it uses. Before any proposed action runs, it checks the user's original intent, permissions, and risks.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-ohc6SEC8mpKNsRo_evEY4"/>
          <p:cNvGrpSpPr/>
          <p:nvPr/>
        </p:nvGrpSpPr>
        <p:grpSpPr>
          <a:xfrm>
            <a:off x="457200" y="4572000"/>
            <a:ext cx="7238520" cy="590040"/>
            <a:chOff x="457200" y="4572000"/>
            <a:chExt cx="7238520" cy="590040"/>
          </a:xfrm>
        </p:grpSpPr>
        <p:sp>
          <p:nvSpPr>
            <p:cNvPr id="13" name="dc57087b-f837-4816-8e89-fd64f55287cd"/>
            <p:cNvSpPr/>
            <p:nvPr/>
          </p:nvSpPr>
          <p:spPr>
            <a:xfrm>
              <a:off x="457200" y="4572000"/>
              <a:ext cx="7238520" cy="590040"/>
            </a:xfrm>
            <a:prstGeom prst="rect">
              <a:avLst/>
            </a:prstGeom>
            <a:noFill/>
            <a:ln w="7620">
              <a:solidFill>
                <a:srgbClr val="37595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endParaRPr>
            </a:p>
          </p:txBody>
        </p:sp>
        <p:sp>
          <p:nvSpPr>
            <p:cNvPr id="14" name="slidesai_1ZGjG6ZC::callout-1"/>
            <p:cNvSpPr/>
            <p:nvPr/>
          </p:nvSpPr>
          <p:spPr>
            <a:xfrm>
              <a:off x="457200" y="4572000"/>
              <a:ext cx="723852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228600" tIns="152280" rIns="228600" bIns="15228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0" i="1" u="none" strike="noStrike">
                  <a:solidFill>
                    <a:srgbClr val="F9EEE7"/>
                  </a:solidFill>
                  <a:effectLst/>
                  <a:uFillTx/>
                  <a:latin typeface="Inter"/>
                  <a:ea typeface="Inter"/>
                </a:rPr>
                <a:t>Our thesis: an agent should earn the right to act, not assume it.</a:t>
              </a:r>
              <a:endParaRPr lang="en-IN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4">
            <a:hlinkClick r:id="rId2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" dur="8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sai_tKsPhkn_::title-2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Why Agents Need a Check Before They Act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lidesai_tKsPhkn_::text-2a"/>
          <p:cNvSpPr/>
          <p:nvPr/>
        </p:nvSpPr>
        <p:spPr>
          <a:xfrm>
            <a:off x="457200" y="990720"/>
            <a:ext cx="1127736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Agents can execute file and tool actions before anyone reviews intent or risk. A single misread instruction can turn into a real change on disk.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   The causal chain behind the stakes: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62c27a92-03e9-4f4d-8204-11b8602dcca9" descr="preencoded.png"/>
          <p:cNvPicPr/>
          <p:nvPr/>
        </p:nvPicPr>
        <p:blipFill>
          <a:blip r:embed="rId1"/>
          <a:stretch/>
        </p:blipFill>
        <p:spPr>
          <a:xfrm>
            <a:off x="457200" y="1714680"/>
            <a:ext cx="11277360" cy="24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slidesai_tKsPhkn_::text-2b"/>
          <p:cNvSpPr/>
          <p:nvPr/>
        </p:nvSpPr>
        <p:spPr>
          <a:xfrm>
            <a:off x="457200" y="434340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i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Without a check, the agent's plan is the only safeguard between intent and effect. Ask the room: how many of you have seen an automation do more than it was asked?</a:t>
            </a:r>
            <a:endParaRPr lang="en-IN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1" descr="preencoded.png"/>
          <p:cNvPicPr/>
          <p:nvPr/>
        </p:nvPicPr>
        <p:blipFill>
          <a:blip r:embed="rId2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hape 3">
            <a:hlinkClick r:id="rId3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14" dur="indefinite" restart="never" nodeType="tmRoot">
          <p:childTnLst>
            <p:seq>
              <p:cTn id="15" dur="indefinite" nodeType="mainSeq">
                <p:childTnLst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sai_O5guFOIc::title-3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Our Idea: A Gate Between the Agent and Its Tools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lidesai_O5guFOIc::text-3a"/>
          <p:cNvSpPr/>
          <p:nvPr/>
        </p:nvSpPr>
        <p:spPr>
          <a:xfrm>
            <a:off x="457200" y="99072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ActionShield sits between the planner and the tools, so every proposed action is checked first.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94e0e838-4a2a-418c-bac4-ac4c37e0aae4" descr="preencoded.png"/>
          <p:cNvPicPr/>
          <p:nvPr/>
        </p:nvPicPr>
        <p:blipFill>
          <a:blip r:embed="rId1"/>
          <a:stretch/>
        </p:blipFill>
        <p:spPr>
          <a:xfrm>
            <a:off x="457200" y="1409760"/>
            <a:ext cx="1127736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slidesai_O5guFOIc::list-3"/>
          <p:cNvSpPr/>
          <p:nvPr/>
        </p:nvSpPr>
        <p:spPr>
          <a:xfrm>
            <a:off x="457200" y="3848040"/>
            <a:ext cx="112773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safety engine is the </a:t>
            </a:r>
            <a:r>
              <a:rPr lang="en-US" sz="135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only route</a:t>
            </a: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to execution.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Each action is judged against intent, permissions, and risk before it runs.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4720" indent="-144720" defTabSz="914400">
              <a:lnSpc>
                <a:spcPts val="2106"/>
              </a:lnSpc>
              <a:buClr>
                <a:srgbClr val="F9EEE7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Blocked actions never reach the tools.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preencoded.png"/>
          <p:cNvPicPr/>
          <p:nvPr/>
        </p:nvPicPr>
        <p:blipFill>
          <a:blip r:embed="rId2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hape 3">
            <a:hlinkClick r:id="rId3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sai_h0zO6K-K::title-4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Three Outcomes: ALLOW, REVIEW, BLOCK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lidesai_h0zO6K-K::text-4a"/>
          <p:cNvSpPr/>
          <p:nvPr/>
        </p:nvSpPr>
        <p:spPr>
          <a:xfrm>
            <a:off x="457200" y="99072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Each proposed action receives exactly one of three decisions.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boxes-card-ecbceb26-ce28-48e0-bef2-acab55d189a1"/>
          <p:cNvSpPr/>
          <p:nvPr/>
        </p:nvSpPr>
        <p:spPr>
          <a:xfrm>
            <a:off x="457200" y="1486080"/>
            <a:ext cx="3682800" cy="2857320"/>
          </a:xfrm>
          <a:prstGeom prst="roundRect">
            <a:avLst>
              <a:gd name="adj" fmla="val 2667"/>
            </a:avLst>
          </a:prstGeom>
          <a:noFill/>
          <a:ln w="9525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boxes-marker-ecbceb26-ce28-48e0-bef2-acab55d189a1"/>
          <p:cNvSpPr/>
          <p:nvPr/>
        </p:nvSpPr>
        <p:spPr>
          <a:xfrm>
            <a:off x="2105640" y="2241360"/>
            <a:ext cx="385560" cy="38556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1"/>
          <a:stretch/>
        </p:blipFill>
        <p:spPr>
          <a:xfrm>
            <a:off x="2179080" y="2314800"/>
            <a:ext cx="23868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4"/>
          <p:cNvSpPr/>
          <p:nvPr/>
        </p:nvSpPr>
        <p:spPr>
          <a:xfrm>
            <a:off x="695160" y="2798640"/>
            <a:ext cx="32065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ts val="1553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ALLOW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695160" y="3052800"/>
            <a:ext cx="320652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action is safe and authorized, and it runs.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boxes-card-98f2b369-e865-4406-8f6a-1ef7610d955a"/>
          <p:cNvSpPr/>
          <p:nvPr/>
        </p:nvSpPr>
        <p:spPr>
          <a:xfrm>
            <a:off x="4254480" y="1486080"/>
            <a:ext cx="3682800" cy="2857320"/>
          </a:xfrm>
          <a:prstGeom prst="roundRect">
            <a:avLst>
              <a:gd name="adj" fmla="val 2667"/>
            </a:avLst>
          </a:prstGeom>
          <a:noFill/>
          <a:ln w="9525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boxes-marker-98f2b369-e865-4406-8f6a-1ef7610d955a"/>
          <p:cNvSpPr/>
          <p:nvPr/>
        </p:nvSpPr>
        <p:spPr>
          <a:xfrm>
            <a:off x="5903280" y="2241360"/>
            <a:ext cx="385560" cy="38556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1" descr="preencoded.png"/>
          <p:cNvPicPr/>
          <p:nvPr/>
        </p:nvPicPr>
        <p:blipFill>
          <a:blip r:embed="rId2"/>
          <a:stretch/>
        </p:blipFill>
        <p:spPr>
          <a:xfrm>
            <a:off x="5976360" y="2314800"/>
            <a:ext cx="23868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8"/>
          <p:cNvSpPr/>
          <p:nvPr/>
        </p:nvSpPr>
        <p:spPr>
          <a:xfrm>
            <a:off x="4492800" y="2798640"/>
            <a:ext cx="32065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ts val="1553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REVIEW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4492800" y="3052800"/>
            <a:ext cx="320652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action is sensitive or uncertain, and a human must approve it.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boxes-card-617c3b1d-0c58-46f4-bd84-8d77ac959ccb"/>
          <p:cNvSpPr/>
          <p:nvPr/>
        </p:nvSpPr>
        <p:spPr>
          <a:xfrm>
            <a:off x="8051760" y="1486080"/>
            <a:ext cx="3682800" cy="2857320"/>
          </a:xfrm>
          <a:prstGeom prst="roundRect">
            <a:avLst>
              <a:gd name="adj" fmla="val 2667"/>
            </a:avLst>
          </a:prstGeom>
          <a:noFill/>
          <a:ln w="9525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boxes-marker-617c3b1d-0c58-46f4-bd84-8d77ac959ccb"/>
          <p:cNvSpPr/>
          <p:nvPr/>
        </p:nvSpPr>
        <p:spPr>
          <a:xfrm>
            <a:off x="9700560" y="2241360"/>
            <a:ext cx="385560" cy="38556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2" descr="preencoded.png"/>
          <p:cNvPicPr/>
          <p:nvPr/>
        </p:nvPicPr>
        <p:blipFill>
          <a:blip r:embed="rId3"/>
          <a:stretch/>
        </p:blipFill>
        <p:spPr>
          <a:xfrm>
            <a:off x="9773640" y="2314800"/>
            <a:ext cx="238680" cy="2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2"/>
          <p:cNvSpPr/>
          <p:nvPr/>
        </p:nvSpPr>
        <p:spPr>
          <a:xfrm>
            <a:off x="8290080" y="2798640"/>
            <a:ext cx="32065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ts val="1553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BLOCK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8290080" y="3052800"/>
            <a:ext cx="320652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action is unsafe or violates policy, and it does not run.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lidesai_h0zO6K-K::text-4b"/>
          <p:cNvSpPr/>
          <p:nvPr/>
        </p:nvSpPr>
        <p:spPr>
          <a:xfrm>
            <a:off x="457200" y="457200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C6B081"/>
                </a:solidFill>
                <a:effectLst/>
                <a:uFillTx/>
                <a:latin typeface="Inter"/>
                <a:ea typeface="Inter"/>
              </a:rPr>
              <a:t>Walk the judges through one example of each decision.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3" descr="preencoded.png"/>
          <p:cNvPicPr/>
          <p:nvPr/>
        </p:nvPicPr>
        <p:blipFill>
          <a:blip r:embed="rId4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Shape 15">
            <a:hlinkClick r:id="rId5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50" dur="indefinite" restart="never" nodeType="tmRoot">
          <p:childTnLst>
            <p:seq>
              <p:cTn id="51" dur="indefinite" nodeType="mainSeq">
                <p:childTnLst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5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sai_L7W3Csob::title-5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Five-Layer System Architecture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lidesai_L7W3Csob::text-5a"/>
          <p:cNvSpPr/>
          <p:nvPr/>
        </p:nvSpPr>
        <p:spPr>
          <a:xfrm>
            <a:off x="457200" y="99072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system is organised as five layers, each with one job.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504720" y="2004840"/>
            <a:ext cx="11182320" cy="360"/>
          </a:xfrm>
          <a:prstGeom prst="line">
            <a:avLst/>
          </a:prstGeom>
          <a:ln w="19050">
            <a:solidFill>
              <a:srgbClr val="EF9C82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1562040" y="2004840"/>
            <a:ext cx="360" cy="595440"/>
          </a:xfrm>
          <a:prstGeom prst="line">
            <a:avLst/>
          </a:prstGeom>
          <a:ln w="19050">
            <a:solidFill>
              <a:srgbClr val="EF9C82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1119240" y="1562040"/>
            <a:ext cx="885600" cy="885600"/>
          </a:xfrm>
          <a:prstGeom prst="ellipse">
            <a:avLst/>
          </a:prstGeom>
          <a:solidFill>
            <a:srgbClr val="1C4241"/>
          </a:solidFill>
          <a:ln w="12700">
            <a:solidFill>
              <a:srgbClr val="1C42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1176480" y="1619280"/>
            <a:ext cx="771120" cy="771120"/>
          </a:xfrm>
          <a:prstGeom prst="ellipse">
            <a:avLst/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1176480" y="1619280"/>
            <a:ext cx="7711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C4241"/>
                </a:solidFill>
                <a:effectLst/>
                <a:uFillTx/>
                <a:latin typeface="Inter"/>
                <a:ea typeface="Inter"/>
              </a:rPr>
              <a:t>1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619200" y="2714760"/>
            <a:ext cx="188568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3104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User interface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3828960" y="2004840"/>
            <a:ext cx="360" cy="595440"/>
          </a:xfrm>
          <a:prstGeom prst="line">
            <a:avLst/>
          </a:prstGeom>
          <a:ln w="19050">
            <a:solidFill>
              <a:srgbClr val="EF9C82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3386160" y="1562040"/>
            <a:ext cx="885600" cy="885600"/>
          </a:xfrm>
          <a:prstGeom prst="ellipse">
            <a:avLst/>
          </a:prstGeom>
          <a:solidFill>
            <a:srgbClr val="1C4241"/>
          </a:solidFill>
          <a:ln w="12700">
            <a:solidFill>
              <a:srgbClr val="1C42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3443400" y="1619280"/>
            <a:ext cx="771120" cy="771120"/>
          </a:xfrm>
          <a:prstGeom prst="ellipse">
            <a:avLst/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3443400" y="1619280"/>
            <a:ext cx="7711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C4241"/>
                </a:solidFill>
                <a:effectLst/>
                <a:uFillTx/>
                <a:latin typeface="Inter"/>
                <a:ea typeface="Inter"/>
              </a:rPr>
              <a:t>2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2886120" y="2714760"/>
            <a:ext cx="188568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3104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AI action planning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6095880" y="2004840"/>
            <a:ext cx="360" cy="595440"/>
          </a:xfrm>
          <a:prstGeom prst="line">
            <a:avLst/>
          </a:prstGeom>
          <a:ln w="19050">
            <a:solidFill>
              <a:srgbClr val="EF9C82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5653080" y="1562040"/>
            <a:ext cx="885600" cy="885600"/>
          </a:xfrm>
          <a:prstGeom prst="ellipse">
            <a:avLst/>
          </a:prstGeom>
          <a:solidFill>
            <a:srgbClr val="1C4241"/>
          </a:solidFill>
          <a:ln w="12700">
            <a:solidFill>
              <a:srgbClr val="1C42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5710320" y="1619280"/>
            <a:ext cx="771120" cy="771120"/>
          </a:xfrm>
          <a:prstGeom prst="ellipse">
            <a:avLst/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5710320" y="1619280"/>
            <a:ext cx="7711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C4241"/>
                </a:solidFill>
                <a:effectLst/>
                <a:uFillTx/>
                <a:latin typeface="Inter"/>
                <a:ea typeface="Inter"/>
              </a:rPr>
              <a:t>3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5153040" y="2714760"/>
            <a:ext cx="1885680" cy="15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3104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Safety and policy enforcement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8362800" y="2004840"/>
            <a:ext cx="360" cy="595440"/>
          </a:xfrm>
          <a:prstGeom prst="line">
            <a:avLst/>
          </a:prstGeom>
          <a:ln w="19050">
            <a:solidFill>
              <a:srgbClr val="EF9C82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7920000" y="1562040"/>
            <a:ext cx="885600" cy="885600"/>
          </a:xfrm>
          <a:prstGeom prst="ellipse">
            <a:avLst/>
          </a:prstGeom>
          <a:solidFill>
            <a:srgbClr val="1C4241"/>
          </a:solidFill>
          <a:ln w="12700">
            <a:solidFill>
              <a:srgbClr val="1C42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7977240" y="1619280"/>
            <a:ext cx="771120" cy="771120"/>
          </a:xfrm>
          <a:prstGeom prst="ellipse">
            <a:avLst/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7977240" y="1619280"/>
            <a:ext cx="7711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C4241"/>
                </a:solidFill>
                <a:effectLst/>
                <a:uFillTx/>
                <a:latin typeface="Inter"/>
                <a:ea typeface="Inter"/>
              </a:rPr>
              <a:t>4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7419960" y="2714760"/>
            <a:ext cx="1885680" cy="11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3104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Controlled sandbox execution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3"/>
          <p:cNvSpPr/>
          <p:nvPr/>
        </p:nvSpPr>
        <p:spPr>
          <a:xfrm>
            <a:off x="10629720" y="2004840"/>
            <a:ext cx="360" cy="595440"/>
          </a:xfrm>
          <a:prstGeom prst="line">
            <a:avLst/>
          </a:prstGeom>
          <a:ln w="19050">
            <a:solidFill>
              <a:srgbClr val="EF9C82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4"/>
          <p:cNvSpPr/>
          <p:nvPr/>
        </p:nvSpPr>
        <p:spPr>
          <a:xfrm>
            <a:off x="10186920" y="1562040"/>
            <a:ext cx="885600" cy="885600"/>
          </a:xfrm>
          <a:prstGeom prst="ellipse">
            <a:avLst/>
          </a:prstGeom>
          <a:solidFill>
            <a:srgbClr val="1C4241"/>
          </a:solidFill>
          <a:ln w="12700">
            <a:solidFill>
              <a:srgbClr val="1C42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5"/>
          <p:cNvSpPr/>
          <p:nvPr/>
        </p:nvSpPr>
        <p:spPr>
          <a:xfrm>
            <a:off x="10244160" y="1619280"/>
            <a:ext cx="771120" cy="771120"/>
          </a:xfrm>
          <a:prstGeom prst="ellipse">
            <a:avLst/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10244160" y="1619280"/>
            <a:ext cx="77112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C4241"/>
                </a:solidFill>
                <a:effectLst/>
                <a:uFillTx/>
                <a:latin typeface="Inter"/>
                <a:ea typeface="Inter"/>
              </a:rPr>
              <a:t>5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9686880" y="2714760"/>
            <a:ext cx="1885680" cy="7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3104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Audit logging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lidesai_L7W3Csob::list-5"/>
          <p:cNvSpPr/>
          <p:nvPr/>
        </p:nvSpPr>
        <p:spPr>
          <a:xfrm>
            <a:off x="457200" y="4572000"/>
            <a:ext cx="112773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r>
              <a:rPr lang="en-US" sz="135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Safety and policy enforcement</a:t>
            </a: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decides before anything executes.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35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Controlled sandbox execution</a:t>
            </a: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runs only simulated file operations.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Audit logging</a:t>
            </a: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records every decision for review.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Shape 29">
            <a:hlinkClick r:id="rId2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73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sai_Q7oyAw5W::title-6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Four Policy Checks Inside the Safety Engine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lidesai_Q7oyAw5W::text-6a"/>
          <p:cNvSpPr/>
          <p:nvPr/>
        </p:nvSpPr>
        <p:spPr>
          <a:xfrm>
            <a:off x="457200" y="99072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engine runs four rule-based checks on each action: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boxes-card-23d77996-396b-47f4-a963-92a57d5cf191"/>
          <p:cNvSpPr/>
          <p:nvPr/>
        </p:nvSpPr>
        <p:spPr>
          <a:xfrm>
            <a:off x="457200" y="1486080"/>
            <a:ext cx="5585400" cy="1375560"/>
          </a:xfrm>
          <a:prstGeom prst="roundRect">
            <a:avLst>
              <a:gd name="adj" fmla="val 5135"/>
            </a:avLst>
          </a:prstGeom>
          <a:noFill/>
          <a:ln w="8830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boxes-marker-23d77996-396b-47f4-a963-92a57d5cf191"/>
          <p:cNvSpPr/>
          <p:nvPr/>
        </p:nvSpPr>
        <p:spPr>
          <a:xfrm>
            <a:off x="642600" y="1673640"/>
            <a:ext cx="357120" cy="35712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710640" y="174168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4"/>
          <p:cNvSpPr/>
          <p:nvPr/>
        </p:nvSpPr>
        <p:spPr>
          <a:xfrm>
            <a:off x="642600" y="2190240"/>
            <a:ext cx="521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Permission validation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642600" y="2426040"/>
            <a:ext cx="52146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953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is the action allowed for this user and resource?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boxes-card-911a5fef-16b4-401e-8300-f58fdd5e0762"/>
          <p:cNvSpPr/>
          <p:nvPr/>
        </p:nvSpPr>
        <p:spPr>
          <a:xfrm>
            <a:off x="6149160" y="1486080"/>
            <a:ext cx="5585400" cy="1375560"/>
          </a:xfrm>
          <a:prstGeom prst="roundRect">
            <a:avLst>
              <a:gd name="adj" fmla="val 5135"/>
            </a:avLst>
          </a:prstGeom>
          <a:noFill/>
          <a:ln w="8830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boxes-marker-911a5fef-16b4-401e-8300-f58fdd5e0762"/>
          <p:cNvSpPr/>
          <p:nvPr/>
        </p:nvSpPr>
        <p:spPr>
          <a:xfrm>
            <a:off x="6334560" y="1673640"/>
            <a:ext cx="357120" cy="35712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2"/>
          <a:stretch/>
        </p:blipFill>
        <p:spPr>
          <a:xfrm>
            <a:off x="6402240" y="174168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8"/>
          <p:cNvSpPr/>
          <p:nvPr/>
        </p:nvSpPr>
        <p:spPr>
          <a:xfrm>
            <a:off x="6334560" y="2190240"/>
            <a:ext cx="521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Intent validation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6334560" y="2426040"/>
            <a:ext cx="52146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953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does the action match the user's original request?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boxes-card-d39743da-fe0b-45e0-94b1-5c75657093f6"/>
          <p:cNvSpPr/>
          <p:nvPr/>
        </p:nvSpPr>
        <p:spPr>
          <a:xfrm>
            <a:off x="457200" y="2967480"/>
            <a:ext cx="5585400" cy="1375560"/>
          </a:xfrm>
          <a:prstGeom prst="roundRect">
            <a:avLst>
              <a:gd name="adj" fmla="val 5135"/>
            </a:avLst>
          </a:prstGeom>
          <a:noFill/>
          <a:ln w="8830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boxes-marker-d39743da-fe0b-45e0-94b1-5c75657093f6"/>
          <p:cNvSpPr/>
          <p:nvPr/>
        </p:nvSpPr>
        <p:spPr>
          <a:xfrm>
            <a:off x="642600" y="3155400"/>
            <a:ext cx="357120" cy="35712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2" descr="preencoded.png"/>
          <p:cNvPicPr/>
          <p:nvPr/>
        </p:nvPicPr>
        <p:blipFill>
          <a:blip r:embed="rId3"/>
          <a:stretch/>
        </p:blipFill>
        <p:spPr>
          <a:xfrm>
            <a:off x="710640" y="322344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2"/>
          <p:cNvSpPr/>
          <p:nvPr/>
        </p:nvSpPr>
        <p:spPr>
          <a:xfrm>
            <a:off x="642600" y="3672000"/>
            <a:ext cx="521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Risk classification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642600" y="3907800"/>
            <a:ext cx="52146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953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how dangerous is the action, such as deletion?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boxes-card-406be7b8-33f8-4c3e-8fa4-49c18a456f1a"/>
          <p:cNvSpPr/>
          <p:nvPr/>
        </p:nvSpPr>
        <p:spPr>
          <a:xfrm>
            <a:off x="6149160" y="2967480"/>
            <a:ext cx="5585400" cy="1375560"/>
          </a:xfrm>
          <a:prstGeom prst="roundRect">
            <a:avLst>
              <a:gd name="adj" fmla="val 5135"/>
            </a:avLst>
          </a:prstGeom>
          <a:noFill/>
          <a:ln w="8830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boxes-marker-406be7b8-33f8-4c3e-8fa4-49c18a456f1a"/>
          <p:cNvSpPr/>
          <p:nvPr/>
        </p:nvSpPr>
        <p:spPr>
          <a:xfrm>
            <a:off x="6334560" y="3155400"/>
            <a:ext cx="357120" cy="357120"/>
          </a:xfrm>
          <a:prstGeom prst="roundRect">
            <a:avLst>
              <a:gd name="adj" fmla="val 24691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3" descr="preencoded.png"/>
          <p:cNvPicPr/>
          <p:nvPr/>
        </p:nvPicPr>
        <p:blipFill>
          <a:blip r:embed="rId4"/>
          <a:stretch/>
        </p:blipFill>
        <p:spPr>
          <a:xfrm>
            <a:off x="6402240" y="3223440"/>
            <a:ext cx="221400" cy="22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6"/>
          <p:cNvSpPr/>
          <p:nvPr/>
        </p:nvSpPr>
        <p:spPr>
          <a:xfrm>
            <a:off x="6334560" y="3672000"/>
            <a:ext cx="5214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44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Duplicate-action detection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6334560" y="3907800"/>
            <a:ext cx="52146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953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has this exact action already been proposed?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lidesai_Q7oyAw5W::text-6b"/>
          <p:cNvSpPr/>
          <p:nvPr/>
        </p:nvSpPr>
        <p:spPr>
          <a:xfrm>
            <a:off x="457200" y="4572000"/>
            <a:ext cx="11675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An LLM API supports the analysis, with </a:t>
            </a:r>
            <a:r>
              <a:rPr lang="en-US" sz="13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rule-based fallback</a:t>
            </a:r>
            <a:r>
              <a:rPr lang="en-US" sz="130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 as a deliberate design choice, so the checks still run when the model is unavailable.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4" descr="preencoded.png"/>
          <p:cNvPicPr/>
          <p:nvPr/>
        </p:nvPicPr>
        <p:blipFill>
          <a:blip r:embed="rId5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Shape 19">
            <a:hlinkClick r:id="rId6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80" dur="indefinite" restart="never" nodeType="tmRoot">
          <p:childTnLst>
            <p:seq>
              <p:cTn id="81" dur="indefinite" nodeType="mainSeq">
                <p:childTnLst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88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" dur="4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sai_xWHsAZrO::title-7"/>
          <p:cNvSpPr/>
          <p:nvPr/>
        </p:nvSpPr>
        <p:spPr>
          <a:xfrm>
            <a:off x="457200" y="657360"/>
            <a:ext cx="11277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996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Planned Technology Stack and Build Approach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lidesai_xWHsAZrO::text-7a"/>
          <p:cNvSpPr/>
          <p:nvPr/>
        </p:nvSpPr>
        <p:spPr>
          <a:xfrm>
            <a:off x="457200" y="1428840"/>
            <a:ext cx="1127736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This is the planned stack, not a finished build.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lidesai_xWHsAZrO::text-7b"/>
          <p:cNvSpPr/>
          <p:nvPr/>
        </p:nvSpPr>
        <p:spPr>
          <a:xfrm>
            <a:off x="457200" y="5810400"/>
            <a:ext cx="1127736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106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approach keeps the safety logic in plain Python, so every rule can be read and tested directly.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56e06f5c-7f92-48de-92ca-b27fc3dacbb7"/>
          <p:cNvSpPr/>
          <p:nvPr/>
        </p:nvSpPr>
        <p:spPr>
          <a:xfrm>
            <a:off x="457200" y="2143080"/>
            <a:ext cx="11277360" cy="334296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9" name="56e06f5c-7f92-48de-92ca-b27fc3dacbb7"/>
          <p:cNvGraphicFramePr/>
          <p:nvPr/>
        </p:nvGraphicFramePr>
        <p:xfrm>
          <a:off x="457200" y="2143080"/>
          <a:ext cx="11277360" cy="3342960"/>
        </p:xfrm>
        <a:graphic>
          <a:graphicData uri="http://schemas.openxmlformats.org/drawingml/2006/table">
            <a:tbl>
              <a:tblPr/>
              <a:tblGrid>
                <a:gridCol w="3399120"/>
                <a:gridCol w="3171600"/>
                <a:gridCol w="4706280"/>
              </a:tblGrid>
              <a:tr h="556920"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Area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EF9C82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Planned choice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EF9C82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Role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EF9C82"/>
                    </a:solidFill>
                  </a:tcPr>
                </a:tc>
              </a:tr>
              <a:tr h="556920"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Backend and safety logic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Python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Policy rules and decision engine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556920"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Dashboard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Streamlit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Audit and action view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556920"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History and audit logs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SQLite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Action history and audit records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556920"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API layer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FastAPI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Optional service layer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556920"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Development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VS Code, Git, GitHub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114120" tIns="114120" r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Editing, version control, and sharing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14120" marR="114120" marT="114120" marB="1141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4241"/>
                    </a:solidFill>
                  </a:tcPr>
                </a:tc>
              </a:tr>
            </a:tbl>
          </a:graphicData>
        </a:graphic>
      </p:graphicFrame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Shape 4">
            <a:hlinkClick r:id="rId2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0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sai_mV5db31o::title-8"/>
          <p:cNvSpPr/>
          <p:nvPr/>
        </p:nvSpPr>
        <p:spPr>
          <a:xfrm>
            <a:off x="457200" y="523800"/>
            <a:ext cx="112773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996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Live Demo: Organizing a Folder Without Deletion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lidesai_mV5db31o::text-8a"/>
          <p:cNvSpPr/>
          <p:nvPr/>
        </p:nvSpPr>
        <p:spPr>
          <a:xfrm>
            <a:off x="457200" y="1085760"/>
            <a:ext cx="1127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 demo runs the request "Organize my project folder, but do not delete any files" through five steps: proposed actions, safety review, decisions, sandbox run, and audit view.</a:t>
            </a:r>
            <a:endParaRPr lang="en-IN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3d16923d-2a22-4578-890c-a524525951b1" descr="preencoded.png"/>
          <p:cNvPicPr/>
          <p:nvPr/>
        </p:nvPicPr>
        <p:blipFill>
          <a:blip r:embed="rId1"/>
          <a:stretch/>
        </p:blipFill>
        <p:spPr>
          <a:xfrm>
            <a:off x="457200" y="1476360"/>
            <a:ext cx="11277360" cy="249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slidesai_mV5db31o::text-8b"/>
          <p:cNvSpPr/>
          <p:nvPr/>
        </p:nvSpPr>
        <p:spPr>
          <a:xfrm>
            <a:off x="457200" y="4095720"/>
            <a:ext cx="11277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2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9EEE7">
                    <a:alpha val="60000"/>
                  </a:srgbClr>
                </a:solidFill>
                <a:effectLst/>
                <a:uFillTx/>
                <a:latin typeface="Inter"/>
                <a:ea typeface="Inter"/>
              </a:rPr>
              <a:t>Side-by-side comparison of the simulated workflow: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lidesai_mV5db31o::text-8c"/>
          <p:cNvSpPr/>
          <p:nvPr/>
        </p:nvSpPr>
        <p:spPr>
          <a:xfrm>
            <a:off x="457200" y="607680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6B081"/>
                </a:solidFill>
                <a:effectLst/>
                <a:uFillTx/>
                <a:latin typeface="Inter"/>
                <a:ea typeface="Inter"/>
              </a:rPr>
              <a:t>Close the demo by opening the audit dashboard.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b31f4908-577e-4531-8040-978105d26a97"/>
          <p:cNvSpPr/>
          <p:nvPr/>
        </p:nvSpPr>
        <p:spPr>
          <a:xfrm>
            <a:off x="457200" y="4400640"/>
            <a:ext cx="11277360" cy="155232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b31f4908-577e-4531-8040-978105d26a97"/>
          <p:cNvGraphicFramePr/>
          <p:nvPr/>
        </p:nvGraphicFramePr>
        <p:xfrm>
          <a:off x="457200" y="4400640"/>
          <a:ext cx="11277360" cy="1552320"/>
        </p:xfrm>
        <a:graphic>
          <a:graphicData uri="http://schemas.openxmlformats.org/drawingml/2006/table">
            <a:tbl>
              <a:tblPr/>
              <a:tblGrid>
                <a:gridCol w="2970360"/>
                <a:gridCol w="3879720"/>
                <a:gridCol w="4427280"/>
              </a:tblGrid>
              <a:tr h="310320"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Stage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EF9C82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Without ActionShield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EF9C82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With ActionShield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EF9C82"/>
                    </a:solidFill>
                  </a:tcPr>
                </a:tc>
              </a:tr>
              <a:tr h="310320"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Create folders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Runs directly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ALLOW, runs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310320"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Rename files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Runs directly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REVIEW, waits for approval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310320"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Delete duplicates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Runs directly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BLOCK, does not run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200">
                      <a:solidFill>
                        <a:srgbClr val="B7BAB5"/>
                      </a:solidFill>
                      <a:prstDash val="solid"/>
                    </a:lnB>
                    <a:solidFill>
                      <a:srgbClr val="1C4241"/>
                    </a:solidFill>
                  </a:tcPr>
                </a:tc>
              </a:tr>
              <a:tr h="310320"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Record of actions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Not captured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4241"/>
                    </a:solidFill>
                  </a:tcPr>
                </a:tc>
                <a:tc>
                  <a:txBody>
                    <a:bodyPr lIns="75960" tIns="50760" rIns="759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9EEE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Logged in the audit view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50760" marB="507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4241"/>
                    </a:solidFill>
                  </a:tcPr>
                </a:tc>
              </a:tr>
            </a:tbl>
          </a:graphicData>
        </a:graphic>
      </p:graphicFrame>
      <p:pic>
        <p:nvPicPr>
          <p:cNvPr id="119" name="Image 1" descr="preencoded.png"/>
          <p:cNvPicPr/>
          <p:nvPr/>
        </p:nvPicPr>
        <p:blipFill>
          <a:blip r:embed="rId2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Shape 5">
            <a:hlinkClick r:id="rId3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9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5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" dur="4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4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sai_WPKgWlX4::title-9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Planned Evaluation Metrics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lidesai_WPKgWlX4::text-9a"/>
          <p:cNvSpPr/>
          <p:nvPr/>
        </p:nvSpPr>
        <p:spPr>
          <a:xfrm>
            <a:off x="457200" y="99072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These four measures define how success will be judged. No results are claimed here.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boxes-card-ca93af09-1c92-4ec0-8ff0-74c110b8b8bf"/>
          <p:cNvSpPr/>
          <p:nvPr/>
        </p:nvSpPr>
        <p:spPr>
          <a:xfrm>
            <a:off x="457200" y="1486080"/>
            <a:ext cx="5605560" cy="1395720"/>
          </a:xfrm>
          <a:prstGeom prst="roundRect">
            <a:avLst>
              <a:gd name="adj" fmla="val 3127"/>
            </a:avLst>
          </a:prstGeom>
          <a:noFill/>
          <a:ln w="5457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boxes-marker-ca93af09-1c92-4ec0-8ff0-74c110b8b8bf"/>
          <p:cNvSpPr/>
          <p:nvPr/>
        </p:nvSpPr>
        <p:spPr>
          <a:xfrm>
            <a:off x="571680" y="1626480"/>
            <a:ext cx="441720" cy="441720"/>
          </a:xfrm>
          <a:prstGeom prst="roundRect">
            <a:avLst>
              <a:gd name="adj" fmla="val 12346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655920" y="17103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4"/>
          <p:cNvSpPr/>
          <p:nvPr/>
        </p:nvSpPr>
        <p:spPr>
          <a:xfrm>
            <a:off x="571680" y="2264760"/>
            <a:ext cx="53766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8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Simulated test cases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571680" y="2523600"/>
            <a:ext cx="5376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18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Coverage of safe, sensitive, and unsafe actions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boxes-card-c9803117-2f02-4bcf-b45c-bb5df28984c0"/>
          <p:cNvSpPr/>
          <p:nvPr/>
        </p:nvSpPr>
        <p:spPr>
          <a:xfrm>
            <a:off x="6128640" y="1486080"/>
            <a:ext cx="5605560" cy="1395720"/>
          </a:xfrm>
          <a:prstGeom prst="roundRect">
            <a:avLst>
              <a:gd name="adj" fmla="val 3127"/>
            </a:avLst>
          </a:prstGeom>
          <a:noFill/>
          <a:ln w="5457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boxes-marker-c9803117-2f02-4bcf-b45c-bb5df28984c0"/>
          <p:cNvSpPr/>
          <p:nvPr/>
        </p:nvSpPr>
        <p:spPr>
          <a:xfrm>
            <a:off x="6243480" y="1626480"/>
            <a:ext cx="441720" cy="441720"/>
          </a:xfrm>
          <a:prstGeom prst="roundRect">
            <a:avLst>
              <a:gd name="adj" fmla="val 12346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2"/>
          <a:stretch/>
        </p:blipFill>
        <p:spPr>
          <a:xfrm>
            <a:off x="6327360" y="17103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8"/>
          <p:cNvSpPr/>
          <p:nvPr/>
        </p:nvSpPr>
        <p:spPr>
          <a:xfrm>
            <a:off x="6243480" y="2264760"/>
            <a:ext cx="53766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8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Unsafe-action block rate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6243480" y="2523600"/>
            <a:ext cx="5376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18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Share of unsafe actions the engine stops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boxes-card-79ccf2e9-f01f-4046-bcce-91a3d2d0f070"/>
          <p:cNvSpPr/>
          <p:nvPr/>
        </p:nvSpPr>
        <p:spPr>
          <a:xfrm>
            <a:off x="457200" y="2947320"/>
            <a:ext cx="5605560" cy="1395720"/>
          </a:xfrm>
          <a:prstGeom prst="roundRect">
            <a:avLst>
              <a:gd name="adj" fmla="val 3127"/>
            </a:avLst>
          </a:prstGeom>
          <a:noFill/>
          <a:ln w="5457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boxes-marker-79ccf2e9-f01f-4046-bcce-91a3d2d0f070"/>
          <p:cNvSpPr/>
          <p:nvPr/>
        </p:nvSpPr>
        <p:spPr>
          <a:xfrm>
            <a:off x="571680" y="3087720"/>
            <a:ext cx="441720" cy="441720"/>
          </a:xfrm>
          <a:prstGeom prst="roundRect">
            <a:avLst>
              <a:gd name="adj" fmla="val 12346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2" descr="preencoded.png"/>
          <p:cNvPicPr/>
          <p:nvPr/>
        </p:nvPicPr>
        <p:blipFill>
          <a:blip r:embed="rId3"/>
          <a:stretch/>
        </p:blipFill>
        <p:spPr>
          <a:xfrm>
            <a:off x="655920" y="31719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12"/>
          <p:cNvSpPr/>
          <p:nvPr/>
        </p:nvSpPr>
        <p:spPr>
          <a:xfrm>
            <a:off x="571680" y="3726360"/>
            <a:ext cx="53766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8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False positives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571680" y="3984840"/>
            <a:ext cx="5376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18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Safe actions wrongly blocked or sent for review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boxes-card-09689398-9b50-4917-8772-a9095b2eb7eb"/>
          <p:cNvSpPr/>
          <p:nvPr/>
        </p:nvSpPr>
        <p:spPr>
          <a:xfrm>
            <a:off x="6128640" y="2947320"/>
            <a:ext cx="5605560" cy="1395720"/>
          </a:xfrm>
          <a:prstGeom prst="roundRect">
            <a:avLst>
              <a:gd name="adj" fmla="val 3127"/>
            </a:avLst>
          </a:prstGeom>
          <a:noFill/>
          <a:ln w="5457">
            <a:solidFill>
              <a:srgbClr val="EF9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boxes-marker-09689398-9b50-4917-8772-a9095b2eb7eb"/>
          <p:cNvSpPr/>
          <p:nvPr/>
        </p:nvSpPr>
        <p:spPr>
          <a:xfrm>
            <a:off x="6243480" y="3087720"/>
            <a:ext cx="441720" cy="441720"/>
          </a:xfrm>
          <a:prstGeom prst="roundRect">
            <a:avLst>
              <a:gd name="adj" fmla="val 12346"/>
            </a:avLst>
          </a:prstGeom>
          <a:solidFill>
            <a:srgbClr val="EF9C82"/>
          </a:solidFill>
          <a:ln w="12700">
            <a:solidFill>
              <a:srgbClr val="EF9C8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6327360" y="31719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16"/>
          <p:cNvSpPr/>
          <p:nvPr/>
        </p:nvSpPr>
        <p:spPr>
          <a:xfrm>
            <a:off x="6243480" y="3726360"/>
            <a:ext cx="53766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8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D9BE"/>
                </a:solidFill>
                <a:effectLst/>
                <a:uFillTx/>
                <a:latin typeface="Fraunces"/>
                <a:ea typeface="Fraunces"/>
              </a:rPr>
              <a:t>Added processing time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6243480" y="3984840"/>
            <a:ext cx="5376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ts val="1718"/>
              </a:lnSpc>
              <a:tabLst>
                <a:tab pos="0" algn="l"/>
              </a:tabLst>
            </a:pPr>
            <a:r>
              <a:rPr lang="en-US" sz="154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Latency the safety check adds to each action</a:t>
            </a:r>
            <a:endParaRPr lang="en-IN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4" descr="preencoded.png"/>
          <p:cNvPicPr/>
          <p:nvPr/>
        </p:nvPicPr>
        <p:blipFill>
          <a:blip r:embed="rId5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hape 18">
            <a:hlinkClick r:id="rId6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1" dur="6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" dur="6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43" dur="6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4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sai_mi72_b0u::title-10"/>
          <p:cNvSpPr/>
          <p:nvPr/>
        </p:nvSpPr>
        <p:spPr>
          <a:xfrm>
            <a:off x="457200" y="457200"/>
            <a:ext cx="11277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Impact, Limitations, and Next Steps</a:t>
            </a:r>
            <a:endParaRPr lang="en-IN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lidesai_mi72_b0u::stmt-10a"/>
          <p:cNvSpPr/>
          <p:nvPr/>
        </p:nvSpPr>
        <p:spPr>
          <a:xfrm>
            <a:off x="457200" y="106668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4372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Impact: a safety checkpoint lets agents act on routine work while people stay in control of sensitive and irreversible steps.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lidesai_mi72_b0u::stmt-10a::border-strip-left"/>
          <p:cNvSpPr/>
          <p:nvPr/>
        </p:nvSpPr>
        <p:spPr>
          <a:xfrm>
            <a:off x="457200" y="1066680"/>
            <a:ext cx="14760" cy="266400"/>
          </a:xfrm>
          <a:prstGeom prst="rect">
            <a:avLst/>
          </a:prstGeom>
          <a:solidFill>
            <a:srgbClr val="F9EEE7"/>
          </a:solidFill>
          <a:ln w="12700">
            <a:solidFill>
              <a:srgbClr val="F9EEE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lidesai_mi72_b0u::stmt-10b"/>
          <p:cNvSpPr/>
          <p:nvPr/>
        </p:nvSpPr>
        <p:spPr>
          <a:xfrm>
            <a:off x="457200" y="148608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4372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Limitations: this is a student prototype, and the sandbox is simulated. Real-world coverage is not yet tested.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lidesai_mi72_b0u::stmt-10b::border-strip-left"/>
          <p:cNvSpPr/>
          <p:nvPr/>
        </p:nvSpPr>
        <p:spPr>
          <a:xfrm>
            <a:off x="457200" y="1486080"/>
            <a:ext cx="14760" cy="266400"/>
          </a:xfrm>
          <a:prstGeom prst="rect">
            <a:avLst/>
          </a:prstGeom>
          <a:solidFill>
            <a:srgbClr val="F9EEE7"/>
          </a:solidFill>
          <a:ln w="12700">
            <a:solidFill>
              <a:srgbClr val="F9EEE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lidesai_mi72_b0u::stmt-10c"/>
          <p:cNvSpPr/>
          <p:nvPr/>
        </p:nvSpPr>
        <p:spPr>
          <a:xfrm>
            <a:off x="457200" y="190512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4372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9EEE7"/>
                </a:solidFill>
                <a:effectLst/>
                <a:uFillTx/>
                <a:latin typeface="Inter"/>
                <a:ea typeface="Inter"/>
              </a:rPr>
              <a:t>Next steps: build the planned stack, run the simulated test cases, and report the four measures honestly.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lidesai_mi72_b0u::stmt-10c::border-strip-left"/>
          <p:cNvSpPr/>
          <p:nvPr/>
        </p:nvSpPr>
        <p:spPr>
          <a:xfrm>
            <a:off x="457200" y="1905120"/>
            <a:ext cx="14760" cy="266400"/>
          </a:xfrm>
          <a:prstGeom prst="rect">
            <a:avLst/>
          </a:prstGeom>
          <a:solidFill>
            <a:srgbClr val="F9EEE7"/>
          </a:solidFill>
          <a:ln w="12700">
            <a:solidFill>
              <a:srgbClr val="F9EEE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lidesai_mi72_b0u::text-10d"/>
          <p:cNvSpPr/>
          <p:nvPr/>
        </p:nvSpPr>
        <p:spPr>
          <a:xfrm>
            <a:off x="457200" y="247644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C6B081"/>
                </a:solidFill>
                <a:effectLst/>
                <a:uFillTx/>
                <a:latin typeface="Inter"/>
                <a:ea typeface="Inter"/>
              </a:rPr>
              <a:t>Thank you. I welcome your questions.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0" descr="preencoded.png"/>
          <p:cNvPicPr/>
          <p:nvPr/>
        </p:nvPicPr>
        <p:blipFill>
          <a:blip r:embed="rId1"/>
          <a:stretch/>
        </p:blipFill>
        <p:spPr>
          <a:xfrm>
            <a:off x="10705680" y="6523920"/>
            <a:ext cx="134712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Shape 8">
            <a:hlinkClick r:id="rId2"/>
          </p:cNvPr>
          <p:cNvSpPr/>
          <p:nvPr/>
        </p:nvSpPr>
        <p:spPr>
          <a:xfrm>
            <a:off x="10705680" y="6523920"/>
            <a:ext cx="1347120" cy="213480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2026-10-19T09:38:31Z</dcterms:created>
  <dc:creator>SlidesAI</dc:creator>
  <dc:description/>
  <dc:language>en-IN</dc:language>
  <cp:lastModifiedBy/>
  <dcterms:modified xsi:type="dcterms:W3CDTF">2026-10-23T11:36:03Z</dcterms:modified>
  <cp:revision>3</cp:revision>
  <dc:subject>PptxGenJS Presentation</dc:subject>
  <dc:title>ActionShield AI: A Safety Checkpoint for AI Agents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